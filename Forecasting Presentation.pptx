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y="5143500" cx="9144000"/>
  <p:notesSz cx="6858000" cy="9144000"/>
  <p:embeddedFontLst>
    <p:embeddedFont>
      <p:font typeface="Roboto"/>
      <p:regular r:id="rId17"/>
      <p:bold r:id="rId18"/>
      <p:italic r:id="rId19"/>
      <p:boldItalic r:id="rId20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135C7A7E-4492-490B-AB57-27E5EC2BEFA0}">
  <a:tblStyle styleId="{135C7A7E-4492-490B-AB57-27E5EC2BEFA0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Roboto-boldItalic.fntdata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font" Target="fonts/Roboto-regular.fntdata"/><Relationship Id="rId16" Type="http://schemas.openxmlformats.org/officeDocument/2006/relationships/slide" Target="slides/slide10.xml"/><Relationship Id="rId5" Type="http://schemas.openxmlformats.org/officeDocument/2006/relationships/slideMaster" Target="slideMasters/slideMaster1.xml"/><Relationship Id="rId19" Type="http://schemas.openxmlformats.org/officeDocument/2006/relationships/font" Target="fonts/Roboto-italic.fntdata"/><Relationship Id="rId6" Type="http://schemas.openxmlformats.org/officeDocument/2006/relationships/notesMaster" Target="notesMasters/notesMaster1.xml"/><Relationship Id="rId18" Type="http://schemas.openxmlformats.org/officeDocument/2006/relationships/font" Target="fonts/Roboto-bold.fntdata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g3a5c99c0a93_0_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" name="Google Shape;59;g3a5c99c0a93_0_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g3a5c99c0a93_0_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" name="Google Shape;69;g3a5c99c0a93_0_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g3a5c99c0a93_0_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9" name="Google Shape;79;g3a5c99c0a93_0_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g3a5c99c0a93_0_2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1" name="Google Shape;91;g3a5c99c0a93_0_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g3a5c99c0a93_0_3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2" name="Google Shape;102;g3a5c99c0a93_0_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g3a5c99c0a93_0_3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3" name="Google Shape;113;g3a5c99c0a93_0_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g3a5c99c0a93_0_4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4" name="Google Shape;124;g3a5c99c0a93_0_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g3a5c99c0a93_0_8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5" name="Google Shape;135;g3a5c99c0a93_0_8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g3a5c99c0a93_0_9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5" name="Google Shape;145;g3a5c99c0a93_0_9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t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t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t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t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t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t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t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t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t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t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tr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tr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5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6.png"/><Relationship Id="rId4" Type="http://schemas.openxmlformats.org/officeDocument/2006/relationships/image" Target="../media/image13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6.png"/><Relationship Id="rId4" Type="http://schemas.openxmlformats.org/officeDocument/2006/relationships/image" Target="../media/image12.png"/><Relationship Id="rId5" Type="http://schemas.openxmlformats.org/officeDocument/2006/relationships/image" Target="../media/image1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6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6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6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6.png"/><Relationship Id="rId4" Type="http://schemas.openxmlformats.org/officeDocument/2006/relationships/image" Target="../media/image2.jp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6.png"/><Relationship Id="rId4" Type="http://schemas.openxmlformats.org/officeDocument/2006/relationships/image" Target="../media/image14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56" name="Google Shape;56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" name="Google Shape;62;p1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63" name="Google Shape;63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4" name="Google Shape;64;p1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11700" y="1478800"/>
            <a:ext cx="4833949" cy="2424975"/>
          </a:xfrm>
          <a:prstGeom prst="rect">
            <a:avLst/>
          </a:prstGeom>
          <a:noFill/>
          <a:ln>
            <a:noFill/>
          </a:ln>
        </p:spPr>
      </p:pic>
      <p:sp>
        <p:nvSpPr>
          <p:cNvPr id="65" name="Google Shape;65;p14"/>
          <p:cNvSpPr txBox="1"/>
          <p:nvPr/>
        </p:nvSpPr>
        <p:spPr>
          <a:xfrm>
            <a:off x="5219700" y="1017725"/>
            <a:ext cx="3820500" cy="354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tr" sz="1200">
                <a:solidFill>
                  <a:srgbClr val="44546A"/>
                </a:solidFill>
              </a:rPr>
              <a:t>The Problem:</a:t>
            </a:r>
            <a:endParaRPr b="1" sz="1200">
              <a:solidFill>
                <a:srgbClr val="44546A"/>
              </a:solidFill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4546A"/>
              </a:buClr>
              <a:buSzPts val="1200"/>
              <a:buChar char="●"/>
            </a:pPr>
            <a:r>
              <a:rPr lang="tr" sz="1200">
                <a:solidFill>
                  <a:srgbClr val="44546A"/>
                </a:solidFill>
              </a:rPr>
              <a:t>Consumer credit card loans = $1.1 trillion (2024)</a:t>
            </a:r>
            <a:endParaRPr sz="1200">
              <a:solidFill>
                <a:srgbClr val="44546A"/>
              </a:solidFill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4546A"/>
              </a:buClr>
              <a:buSzPts val="1200"/>
              <a:buChar char="●"/>
            </a:pPr>
            <a:r>
              <a:rPr lang="tr" sz="1200">
                <a:solidFill>
                  <a:srgbClr val="44546A"/>
                </a:solidFill>
              </a:rPr>
              <a:t>Highly volatile—reacts sharply to economic shocks</a:t>
            </a:r>
            <a:endParaRPr sz="1200">
              <a:solidFill>
                <a:srgbClr val="44546A"/>
              </a:solidFill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4546A"/>
              </a:buClr>
              <a:buSzPts val="1200"/>
              <a:buChar char="●"/>
            </a:pPr>
            <a:r>
              <a:rPr lang="tr" sz="1200">
                <a:solidFill>
                  <a:srgbClr val="44546A"/>
                </a:solidFill>
              </a:rPr>
              <a:t>Dropped $122 billion in the start of COVID-19</a:t>
            </a:r>
            <a:endParaRPr sz="1200">
              <a:solidFill>
                <a:srgbClr val="44546A"/>
              </a:solidFill>
            </a:endParaRPr>
          </a:p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br>
              <a:rPr lang="tr" sz="1200">
                <a:solidFill>
                  <a:srgbClr val="44546A"/>
                </a:solidFill>
              </a:rPr>
            </a:br>
            <a:r>
              <a:rPr b="1" lang="tr" sz="1200">
                <a:solidFill>
                  <a:srgbClr val="44546A"/>
                </a:solidFill>
              </a:rPr>
              <a:t>Research Question: Which time-series model best forecasts one-step-ahead monthly changes in U.S. consumer credit?</a:t>
            </a:r>
            <a:endParaRPr b="1" sz="1200">
              <a:solidFill>
                <a:srgbClr val="44546A"/>
              </a:solidFill>
            </a:endParaRPr>
          </a:p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tr" sz="1200">
                <a:solidFill>
                  <a:srgbClr val="44546A"/>
                </a:solidFill>
              </a:rPr>
              <a:t>Do seasonal patterns or macroeconomic factors improve accuracy?</a:t>
            </a:r>
            <a:endParaRPr sz="1200">
              <a:solidFill>
                <a:srgbClr val="44546A"/>
              </a:solidFill>
            </a:endParaRPr>
          </a:p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tr" sz="1200">
                <a:solidFill>
                  <a:srgbClr val="44546A"/>
                </a:solidFill>
              </a:rPr>
              <a:t>Why It Matters:</a:t>
            </a:r>
            <a:endParaRPr sz="1200">
              <a:solidFill>
                <a:srgbClr val="44546A"/>
              </a:solidFill>
            </a:endParaRPr>
          </a:p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tr" sz="1200">
                <a:solidFill>
                  <a:srgbClr val="44546A"/>
                </a:solidFill>
              </a:rPr>
              <a:t>      ✓ Early warning signals for financial stress</a:t>
            </a:r>
            <a:endParaRPr sz="1200">
              <a:solidFill>
                <a:srgbClr val="44546A"/>
              </a:solidFill>
            </a:endParaRPr>
          </a:p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tr" sz="1200">
                <a:solidFill>
                  <a:srgbClr val="44546A"/>
                </a:solidFill>
              </a:rPr>
              <a:t>      ✓ Risk management for financial institutions</a:t>
            </a:r>
            <a:endParaRPr sz="1200">
              <a:solidFill>
                <a:srgbClr val="44546A"/>
              </a:solidFill>
            </a:endParaRPr>
          </a:p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tr" sz="1200">
                <a:solidFill>
                  <a:srgbClr val="44546A"/>
                </a:solidFill>
              </a:rPr>
              <a:t>      ✓ Policy insights for Federal Reserve decisions</a:t>
            </a:r>
            <a:endParaRPr sz="1200">
              <a:solidFill>
                <a:srgbClr val="44546A"/>
              </a:solidFill>
            </a:endParaRPr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tr" sz="1200">
                <a:solidFill>
                  <a:srgbClr val="44546A"/>
                </a:solidFill>
              </a:rPr>
              <a:t>      ✓ Understanding household financial  health</a:t>
            </a:r>
            <a:endParaRPr sz="1200">
              <a:solidFill>
                <a:srgbClr val="44546A"/>
              </a:solidFill>
            </a:endParaRPr>
          </a:p>
        </p:txBody>
      </p:sp>
      <p:sp>
        <p:nvSpPr>
          <p:cNvPr id="66" name="Google Shape;66;p14"/>
          <p:cNvSpPr txBox="1"/>
          <p:nvPr/>
        </p:nvSpPr>
        <p:spPr>
          <a:xfrm>
            <a:off x="2256350" y="445025"/>
            <a:ext cx="5249400" cy="719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tr" sz="1800">
                <a:solidFill>
                  <a:srgbClr val="44546A"/>
                </a:solidFill>
              </a:rPr>
              <a:t>RESEARCH QUESTION AND MOTIVATION</a:t>
            </a:r>
            <a:endParaRPr sz="1800">
              <a:solidFill>
                <a:srgbClr val="44546A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" name="Google Shape;72;p1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73" name="Google Shape;73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4" name="Google Shape;74;p1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68600" y="1017725"/>
            <a:ext cx="5004016" cy="3416401"/>
          </a:xfrm>
          <a:prstGeom prst="rect">
            <a:avLst/>
          </a:prstGeom>
          <a:noFill/>
          <a:ln>
            <a:noFill/>
          </a:ln>
        </p:spPr>
      </p:pic>
      <p:sp>
        <p:nvSpPr>
          <p:cNvPr id="75" name="Google Shape;75;p15"/>
          <p:cNvSpPr txBox="1"/>
          <p:nvPr/>
        </p:nvSpPr>
        <p:spPr>
          <a:xfrm>
            <a:off x="5318625" y="1301225"/>
            <a:ext cx="3086100" cy="284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tr">
                <a:solidFill>
                  <a:srgbClr val="44546A"/>
                </a:solidFill>
              </a:rPr>
              <a:t>Data:</a:t>
            </a:r>
            <a:endParaRPr b="1">
              <a:solidFill>
                <a:srgbClr val="44546A"/>
              </a:solidFill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4546A"/>
              </a:buClr>
              <a:buSzPts val="1200"/>
              <a:buChar char="●"/>
            </a:pPr>
            <a:r>
              <a:rPr lang="tr" sz="1200">
                <a:solidFill>
                  <a:srgbClr val="44546A"/>
                </a:solidFill>
              </a:rPr>
              <a:t>Credit card loans: 304 months (Jul 2000 - Oct 2025)</a:t>
            </a:r>
            <a:endParaRPr sz="1200">
              <a:solidFill>
                <a:srgbClr val="44546A"/>
              </a:solidFill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4546A"/>
              </a:buClr>
              <a:buSzPts val="1200"/>
              <a:buChar char="●"/>
            </a:pPr>
            <a:r>
              <a:rPr lang="tr" sz="1200">
                <a:solidFill>
                  <a:srgbClr val="44546A"/>
                </a:solidFill>
              </a:rPr>
              <a:t>Growth: 428% over sample period</a:t>
            </a:r>
            <a:endParaRPr sz="1200">
              <a:solidFill>
                <a:srgbClr val="44546A"/>
              </a:solidFill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4546A"/>
              </a:buClr>
              <a:buSzPts val="1200"/>
              <a:buChar char="●"/>
            </a:pPr>
            <a:r>
              <a:rPr lang="tr" sz="1200">
                <a:solidFill>
                  <a:srgbClr val="44546A"/>
                </a:solidFill>
              </a:rPr>
              <a:t>Exogenous variables:</a:t>
            </a:r>
            <a:endParaRPr sz="1200">
              <a:solidFill>
                <a:srgbClr val="44546A"/>
              </a:solidFill>
            </a:endParaRPr>
          </a:p>
          <a:p>
            <a:pPr indent="-3048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4546A"/>
              </a:buClr>
              <a:buSzPts val="1200"/>
              <a:buChar char="○"/>
            </a:pPr>
            <a:r>
              <a:rPr lang="tr" sz="1200">
                <a:solidFill>
                  <a:srgbClr val="44546A"/>
                </a:solidFill>
              </a:rPr>
              <a:t>Fed Funds Rate,</a:t>
            </a:r>
            <a:endParaRPr sz="1200">
              <a:solidFill>
                <a:srgbClr val="44546A"/>
              </a:solidFill>
            </a:endParaRPr>
          </a:p>
          <a:p>
            <a:pPr indent="-3048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4546A"/>
              </a:buClr>
              <a:buSzPts val="1200"/>
              <a:buChar char="○"/>
            </a:pPr>
            <a:r>
              <a:rPr lang="tr" sz="1200">
                <a:solidFill>
                  <a:srgbClr val="44546A"/>
                </a:solidFill>
              </a:rPr>
              <a:t>Unemployment Rate</a:t>
            </a:r>
            <a:endParaRPr sz="1200">
              <a:solidFill>
                <a:srgbClr val="44546A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44546A"/>
              </a:solidFill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4546A"/>
              </a:buClr>
              <a:buSzPts val="1200"/>
              <a:buChar char="●"/>
            </a:pPr>
            <a:r>
              <a:rPr lang="tr" sz="1200">
                <a:solidFill>
                  <a:srgbClr val="44546A"/>
                </a:solidFill>
              </a:rPr>
              <a:t>Train-Test Split:80% training (2000-2020) | 20% test (2020-2025)</a:t>
            </a:r>
            <a:endParaRPr sz="1200">
              <a:solidFill>
                <a:srgbClr val="44546A"/>
              </a:solidFill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4546A"/>
              </a:buClr>
              <a:buSzPts val="1200"/>
              <a:buChar char="●"/>
            </a:pPr>
            <a:r>
              <a:rPr lang="tr" sz="1200">
                <a:solidFill>
                  <a:srgbClr val="44546A"/>
                </a:solidFill>
              </a:rPr>
              <a:t>Test period captures COVID-19 shock</a:t>
            </a:r>
            <a:endParaRPr sz="1200">
              <a:solidFill>
                <a:srgbClr val="44546A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76" name="Google Shape;76;p15"/>
          <p:cNvSpPr txBox="1"/>
          <p:nvPr/>
        </p:nvSpPr>
        <p:spPr>
          <a:xfrm>
            <a:off x="3401550" y="322700"/>
            <a:ext cx="2340900" cy="51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tr" sz="1800">
                <a:solidFill>
                  <a:srgbClr val="44546A"/>
                </a:solidFill>
              </a:rPr>
              <a:t>DATA OVERVIEW</a:t>
            </a:r>
            <a:endParaRPr sz="2300">
              <a:solidFill>
                <a:srgbClr val="44546A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83" name="Google Shape;83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4" name="Google Shape;84;p1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74700" y="1010600"/>
            <a:ext cx="3797299" cy="2715208"/>
          </a:xfrm>
          <a:prstGeom prst="rect">
            <a:avLst/>
          </a:prstGeom>
          <a:noFill/>
          <a:ln>
            <a:noFill/>
          </a:ln>
        </p:spPr>
      </p:pic>
      <p:pic>
        <p:nvPicPr>
          <p:cNvPr id="85" name="Google Shape;85;p1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951274" y="1010595"/>
            <a:ext cx="3599724" cy="1806654"/>
          </a:xfrm>
          <a:prstGeom prst="rect">
            <a:avLst/>
          </a:prstGeom>
          <a:noFill/>
          <a:ln>
            <a:noFill/>
          </a:ln>
        </p:spPr>
      </p:pic>
      <p:sp>
        <p:nvSpPr>
          <p:cNvPr id="86" name="Google Shape;86;p16"/>
          <p:cNvSpPr txBox="1"/>
          <p:nvPr/>
        </p:nvSpPr>
        <p:spPr>
          <a:xfrm>
            <a:off x="2759775" y="345575"/>
            <a:ext cx="4000500" cy="518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tr" sz="1900">
                <a:solidFill>
                  <a:srgbClr val="44546A"/>
                </a:solidFill>
              </a:rPr>
              <a:t>STATIONARITY &amp; SEASONALITY</a:t>
            </a:r>
            <a:endParaRPr sz="1800">
              <a:solidFill>
                <a:srgbClr val="44546A"/>
              </a:solidFill>
            </a:endParaRPr>
          </a:p>
        </p:txBody>
      </p:sp>
      <p:sp>
        <p:nvSpPr>
          <p:cNvPr id="87" name="Google Shape;87;p16"/>
          <p:cNvSpPr txBox="1"/>
          <p:nvPr/>
        </p:nvSpPr>
        <p:spPr>
          <a:xfrm>
            <a:off x="405200" y="3725800"/>
            <a:ext cx="4854000" cy="110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tr" sz="1200">
                <a:solidFill>
                  <a:srgbClr val="44546A"/>
                </a:solidFill>
              </a:rPr>
              <a:t>Stationarity</a:t>
            </a:r>
            <a:endParaRPr b="1" sz="1200">
              <a:solidFill>
                <a:srgbClr val="44546A"/>
              </a:solidFill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rgbClr val="44546A"/>
              </a:buClr>
              <a:buSzPts val="1200"/>
              <a:buChar char="●"/>
            </a:pPr>
            <a:r>
              <a:rPr lang="tr" sz="1200">
                <a:solidFill>
                  <a:srgbClr val="44546A"/>
                </a:solidFill>
              </a:rPr>
              <a:t>Original series shows strong upward trend—not stationary</a:t>
            </a:r>
            <a:endParaRPr sz="1200">
              <a:solidFill>
                <a:srgbClr val="44546A"/>
              </a:solidFill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rgbClr val="44546A"/>
              </a:buClr>
              <a:buSzPts val="1200"/>
              <a:buChar char="●"/>
            </a:pPr>
            <a:r>
              <a:rPr lang="tr" sz="1200">
                <a:solidFill>
                  <a:srgbClr val="44546A"/>
                </a:solidFill>
              </a:rPr>
              <a:t>Statistical tests confirm unit root presence (p = 0.94)</a:t>
            </a:r>
            <a:endParaRPr sz="1200">
              <a:solidFill>
                <a:srgbClr val="44546A"/>
              </a:solidFill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rgbClr val="44546A"/>
              </a:buClr>
              <a:buSzPts val="1200"/>
              <a:buChar char="●"/>
            </a:pPr>
            <a:r>
              <a:rPr lang="tr" sz="1200">
                <a:solidFill>
                  <a:srgbClr val="44546A"/>
                </a:solidFill>
              </a:rPr>
              <a:t>First differencing removes trend, achieves stationarity</a:t>
            </a:r>
            <a:endParaRPr sz="1200">
              <a:solidFill>
                <a:srgbClr val="44546A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tr" sz="1200">
                <a:solidFill>
                  <a:srgbClr val="44546A"/>
                </a:solidFill>
              </a:rPr>
              <a:t>Implication: All models require d = 1 differencing</a:t>
            </a:r>
            <a:endParaRPr sz="1200">
              <a:solidFill>
                <a:srgbClr val="44546A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44546A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2"/>
              </a:solidFill>
            </a:endParaRPr>
          </a:p>
        </p:txBody>
      </p:sp>
      <p:sp>
        <p:nvSpPr>
          <p:cNvPr id="88" name="Google Shape;88;p16"/>
          <p:cNvSpPr txBox="1"/>
          <p:nvPr/>
        </p:nvSpPr>
        <p:spPr>
          <a:xfrm>
            <a:off x="4951275" y="2817250"/>
            <a:ext cx="3797400" cy="2112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tr" sz="1200">
                <a:solidFill>
                  <a:srgbClr val="44546A"/>
                </a:solidFill>
              </a:rPr>
              <a:t>Seasonality</a:t>
            </a:r>
            <a:endParaRPr b="1" sz="1200">
              <a:solidFill>
                <a:srgbClr val="44546A"/>
              </a:solidFill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rgbClr val="44546A"/>
              </a:buClr>
              <a:buSzPts val="1200"/>
              <a:buChar char="●"/>
            </a:pPr>
            <a:r>
              <a:rPr lang="tr" sz="1200">
                <a:solidFill>
                  <a:srgbClr val="44546A"/>
                </a:solidFill>
              </a:rPr>
              <a:t>Clear December peak driven by holiday shopping behavior</a:t>
            </a:r>
            <a:endParaRPr sz="1200">
              <a:solidFill>
                <a:srgbClr val="44546A"/>
              </a:solidFill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rgbClr val="44546A"/>
              </a:buClr>
              <a:buSzPts val="1200"/>
              <a:buChar char="●"/>
            </a:pPr>
            <a:r>
              <a:rPr lang="tr" sz="1200">
                <a:solidFill>
                  <a:srgbClr val="44546A"/>
                </a:solidFill>
              </a:rPr>
              <a:t>Summer months (June) show elevated credit usage</a:t>
            </a:r>
            <a:endParaRPr sz="1200">
              <a:solidFill>
                <a:srgbClr val="44546A"/>
              </a:solidFill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rgbClr val="44546A"/>
              </a:buClr>
              <a:buSzPts val="1200"/>
              <a:buChar char="●"/>
            </a:pPr>
            <a:r>
              <a:rPr lang="tr" sz="1200">
                <a:solidFill>
                  <a:srgbClr val="44546A"/>
                </a:solidFill>
              </a:rPr>
              <a:t>March dip reflects post-holiday spending pullback and tax season</a:t>
            </a:r>
            <a:endParaRPr sz="1200">
              <a:solidFill>
                <a:srgbClr val="44546A"/>
              </a:solidFill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rgbClr val="44546A"/>
              </a:buClr>
              <a:buSzPts val="1200"/>
              <a:buChar char="●"/>
            </a:pPr>
            <a:r>
              <a:rPr lang="tr" sz="1200">
                <a:solidFill>
                  <a:srgbClr val="44546A"/>
                </a:solidFill>
              </a:rPr>
              <a:t>Seasonal swings demonstrate consistent annual patterns</a:t>
            </a:r>
            <a:endParaRPr sz="1200">
              <a:solidFill>
                <a:srgbClr val="44546A"/>
              </a:solidFill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rgbClr val="44546A"/>
              </a:buClr>
              <a:buSzPts val="1200"/>
              <a:buChar char="●"/>
            </a:pPr>
            <a:r>
              <a:rPr lang="tr" sz="1200">
                <a:solidFill>
                  <a:srgbClr val="44546A"/>
                </a:solidFill>
              </a:rPr>
              <a:t>Implication: Seasonal ARIMA models can capture these recurring fluctuations</a:t>
            </a:r>
            <a:endParaRPr sz="1200">
              <a:solidFill>
                <a:srgbClr val="44546A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44546A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2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" name="Google Shape;94;p1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95" name="Google Shape;95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96" name="Google Shape;96;p17"/>
          <p:cNvSpPr/>
          <p:nvPr/>
        </p:nvSpPr>
        <p:spPr>
          <a:xfrm>
            <a:off x="204425" y="1017725"/>
            <a:ext cx="2877600" cy="36726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tr" sz="1300">
                <a:solidFill>
                  <a:srgbClr val="44546A"/>
                </a:solidFill>
              </a:rPr>
              <a:t>ARIMA(0,1,1) - Baseline Model</a:t>
            </a:r>
            <a:br>
              <a:rPr lang="tr" sz="1300">
                <a:solidFill>
                  <a:schemeClr val="dk1"/>
                </a:solidFill>
              </a:rPr>
            </a:br>
            <a:endParaRPr sz="1300">
              <a:solidFill>
                <a:schemeClr val="dk1"/>
              </a:solidFill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rgbClr val="44546A"/>
              </a:buClr>
              <a:buSzPts val="1300"/>
              <a:buChar char="●"/>
            </a:pPr>
            <a:r>
              <a:rPr lang="tr" sz="1300">
                <a:solidFill>
                  <a:srgbClr val="44546A"/>
                </a:solidFill>
              </a:rPr>
              <a:t>Captures month-to-month changes in credit card loans</a:t>
            </a:r>
            <a:endParaRPr sz="1300">
              <a:solidFill>
                <a:srgbClr val="44546A"/>
              </a:solidFill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rgbClr val="44546A"/>
              </a:buClr>
              <a:buSzPts val="1300"/>
              <a:buChar char="●"/>
            </a:pPr>
            <a:r>
              <a:rPr lang="tr" sz="1300">
                <a:solidFill>
                  <a:srgbClr val="44546A"/>
                </a:solidFill>
              </a:rPr>
              <a:t>Treats all months as identical (no seasonal awareness)</a:t>
            </a:r>
            <a:endParaRPr sz="1300">
              <a:solidFill>
                <a:srgbClr val="44546A"/>
              </a:solidFill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rgbClr val="44546A"/>
              </a:buClr>
              <a:buSzPts val="1300"/>
              <a:buChar char="●"/>
            </a:pPr>
            <a:r>
              <a:rPr lang="tr" sz="1300">
                <a:solidFill>
                  <a:srgbClr val="44546A"/>
                </a:solidFill>
              </a:rPr>
              <a:t>Simple one-step-ahead forecasting approach</a:t>
            </a:r>
            <a:endParaRPr sz="1300">
              <a:solidFill>
                <a:srgbClr val="44546A"/>
              </a:solidFill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rgbClr val="44546A"/>
              </a:buClr>
              <a:buSzPts val="1300"/>
              <a:buChar char="●"/>
            </a:pPr>
            <a:r>
              <a:rPr lang="tr" sz="1300">
                <a:solidFill>
                  <a:srgbClr val="44546A"/>
                </a:solidFill>
              </a:rPr>
              <a:t>Serves as our benchmark for comparison</a:t>
            </a:r>
            <a:endParaRPr sz="1300">
              <a:solidFill>
                <a:srgbClr val="44546A"/>
              </a:solidFill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rgbClr val="44546A"/>
              </a:buClr>
              <a:buSzPts val="1300"/>
              <a:buChar char="●"/>
            </a:pPr>
            <a:r>
              <a:rPr lang="tr" sz="1300">
                <a:solidFill>
                  <a:srgbClr val="44546A"/>
                </a:solidFill>
              </a:rPr>
              <a:t>BIC = 2110.32</a:t>
            </a:r>
            <a:endParaRPr sz="900">
              <a:solidFill>
                <a:srgbClr val="44546A"/>
              </a:solidFill>
              <a:highlight>
                <a:srgbClr val="181818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" name="Google Shape;97;p17"/>
          <p:cNvSpPr/>
          <p:nvPr/>
        </p:nvSpPr>
        <p:spPr>
          <a:xfrm>
            <a:off x="3260100" y="1017725"/>
            <a:ext cx="2623800" cy="36726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tr" sz="1300">
                <a:solidFill>
                  <a:srgbClr val="44546A"/>
                </a:solidFill>
              </a:rPr>
              <a:t>SARIM</a:t>
            </a:r>
            <a:r>
              <a:rPr b="1" lang="tr" sz="1300">
                <a:solidFill>
                  <a:srgbClr val="44546A"/>
                </a:solidFill>
              </a:rPr>
              <a:t>A(0,1,1)(0,1,1)₁₂ - Seasonal Enhancement</a:t>
            </a:r>
            <a:endParaRPr b="1" sz="1200">
              <a:solidFill>
                <a:srgbClr val="44546A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sz="1200">
              <a:solidFill>
                <a:srgbClr val="44546A"/>
              </a:solidFill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rgbClr val="44546A"/>
              </a:buClr>
              <a:buSzPts val="1300"/>
              <a:buChar char="●"/>
            </a:pPr>
            <a:r>
              <a:rPr lang="tr" sz="1300">
                <a:solidFill>
                  <a:srgbClr val="44546A"/>
                </a:solidFill>
              </a:rPr>
              <a:t>Extends ARIMA by recognizing recurring annual patterns</a:t>
            </a:r>
            <a:endParaRPr sz="1300">
              <a:solidFill>
                <a:srgbClr val="44546A"/>
              </a:solidFill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rgbClr val="44546A"/>
              </a:buClr>
              <a:buSzPts val="1300"/>
              <a:buChar char="●"/>
            </a:pPr>
            <a:r>
              <a:rPr lang="tr" sz="1300">
                <a:solidFill>
                  <a:srgbClr val="44546A"/>
                </a:solidFill>
              </a:rPr>
              <a:t>Captures December holiday peaks and March tax-season lows</a:t>
            </a:r>
            <a:endParaRPr sz="1300">
              <a:solidFill>
                <a:srgbClr val="44546A"/>
              </a:solidFill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rgbClr val="44546A"/>
              </a:buClr>
              <a:buSzPts val="1300"/>
              <a:buChar char="●"/>
            </a:pPr>
            <a:r>
              <a:rPr lang="tr" sz="1300">
                <a:solidFill>
                  <a:srgbClr val="44546A"/>
                </a:solidFill>
              </a:rPr>
              <a:t>Automatically adapts to predictable seasonal credit cycles</a:t>
            </a:r>
            <a:endParaRPr sz="1300">
              <a:solidFill>
                <a:srgbClr val="44546A"/>
              </a:solidFill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rgbClr val="44546A"/>
              </a:buClr>
              <a:buSzPts val="1300"/>
              <a:buChar char="●"/>
            </a:pPr>
            <a:r>
              <a:rPr lang="tr" sz="1300">
                <a:solidFill>
                  <a:srgbClr val="44546A"/>
                </a:solidFill>
              </a:rPr>
              <a:t>BIC = 1904.42 (</a:t>
            </a:r>
            <a:r>
              <a:rPr lang="tr" sz="1300">
                <a:solidFill>
                  <a:srgbClr val="44546A"/>
                </a:solidFill>
              </a:rPr>
              <a:t>Best model fit ✓)</a:t>
            </a:r>
            <a:endParaRPr>
              <a:solidFill>
                <a:schemeClr val="dk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98" name="Google Shape;98;p17"/>
          <p:cNvSpPr/>
          <p:nvPr/>
        </p:nvSpPr>
        <p:spPr>
          <a:xfrm>
            <a:off x="6061975" y="1017725"/>
            <a:ext cx="2832000" cy="36726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tr" sz="1300">
                <a:solidFill>
                  <a:srgbClr val="44546A"/>
                </a:solidFill>
              </a:rPr>
              <a:t>SARIMAX(0,1,1)(0,1,1)₁₂ - Macroeconomic Integration</a:t>
            </a:r>
            <a:endParaRPr b="1" sz="1200">
              <a:solidFill>
                <a:srgbClr val="44546A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sz="1200">
              <a:solidFill>
                <a:srgbClr val="44546A"/>
              </a:solidFill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rgbClr val="44546A"/>
              </a:buClr>
              <a:buSzPts val="1300"/>
              <a:buChar char="●"/>
            </a:pPr>
            <a:r>
              <a:rPr lang="tr" sz="1300">
                <a:solidFill>
                  <a:srgbClr val="44546A"/>
                </a:solidFill>
              </a:rPr>
              <a:t>Builds on SARIMA by incorporating external economic predictors</a:t>
            </a:r>
            <a:endParaRPr sz="1300">
              <a:solidFill>
                <a:srgbClr val="44546A"/>
              </a:solidFill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rgbClr val="44546A"/>
              </a:buClr>
              <a:buSzPts val="1300"/>
              <a:buChar char="●"/>
            </a:pPr>
            <a:r>
              <a:rPr lang="tr" sz="1300">
                <a:solidFill>
                  <a:srgbClr val="44546A"/>
                </a:solidFill>
              </a:rPr>
              <a:t>Includes Federal Funds Rate (monetary policy signal)</a:t>
            </a:r>
            <a:endParaRPr sz="1300">
              <a:solidFill>
                <a:srgbClr val="44546A"/>
              </a:solidFill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rgbClr val="44546A"/>
              </a:buClr>
              <a:buSzPts val="1300"/>
              <a:buChar char="●"/>
            </a:pPr>
            <a:r>
              <a:rPr lang="tr" sz="1300">
                <a:solidFill>
                  <a:srgbClr val="44546A"/>
                </a:solidFill>
              </a:rPr>
              <a:t>Includes Unemployment Rate (economic health indicator)</a:t>
            </a:r>
            <a:endParaRPr sz="1300">
              <a:solidFill>
                <a:srgbClr val="44546A"/>
              </a:solidFill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rgbClr val="44546A"/>
              </a:buClr>
              <a:buSzPts val="1300"/>
              <a:buChar char="●"/>
            </a:pPr>
            <a:r>
              <a:rPr lang="tr" sz="1300">
                <a:solidFill>
                  <a:srgbClr val="44546A"/>
                </a:solidFill>
              </a:rPr>
              <a:t>Tests whether macroeconomic context improves forecast accuracy</a:t>
            </a:r>
            <a:endParaRPr sz="1300">
              <a:solidFill>
                <a:srgbClr val="44546A"/>
              </a:solidFill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rgbClr val="44546A"/>
              </a:buClr>
              <a:buSzPts val="1300"/>
              <a:buChar char="●"/>
            </a:pPr>
            <a:r>
              <a:rPr lang="tr" sz="1300">
                <a:solidFill>
                  <a:srgbClr val="44546A"/>
                </a:solidFill>
              </a:rPr>
              <a:t>BIC = 1908.63</a:t>
            </a:r>
            <a:endParaRPr sz="1300">
              <a:solidFill>
                <a:srgbClr val="44546A"/>
              </a:solidFill>
            </a:endParaRPr>
          </a:p>
        </p:txBody>
      </p:sp>
      <p:sp>
        <p:nvSpPr>
          <p:cNvPr id="99" name="Google Shape;99;p17"/>
          <p:cNvSpPr txBox="1"/>
          <p:nvPr/>
        </p:nvSpPr>
        <p:spPr>
          <a:xfrm>
            <a:off x="3338250" y="332025"/>
            <a:ext cx="3016200" cy="6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tr" sz="1800">
                <a:solidFill>
                  <a:srgbClr val="44546A"/>
                </a:solidFill>
              </a:rPr>
              <a:t>MODEL SPECIFICATIONS</a:t>
            </a:r>
            <a:endParaRPr sz="1800">
              <a:solidFill>
                <a:srgbClr val="44546A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" name="Google Shape;105;p1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06" name="Google Shape;106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07" name="Google Shape;107;p18"/>
          <p:cNvSpPr txBox="1"/>
          <p:nvPr/>
        </p:nvSpPr>
        <p:spPr>
          <a:xfrm>
            <a:off x="2444700" y="311150"/>
            <a:ext cx="4254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tr" sz="1800">
                <a:solidFill>
                  <a:srgbClr val="44546A"/>
                </a:solidFill>
              </a:rPr>
              <a:t>ROLLING WINDOW METHODOLOGY</a:t>
            </a:r>
            <a:endParaRPr sz="1800">
              <a:solidFill>
                <a:srgbClr val="44546A"/>
              </a:solidFill>
            </a:endParaRPr>
          </a:p>
        </p:txBody>
      </p:sp>
      <p:sp>
        <p:nvSpPr>
          <p:cNvPr id="108" name="Google Shape;108;p18"/>
          <p:cNvSpPr/>
          <p:nvPr/>
        </p:nvSpPr>
        <p:spPr>
          <a:xfrm>
            <a:off x="1176300" y="883850"/>
            <a:ext cx="6791400" cy="10902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tr">
                <a:solidFill>
                  <a:srgbClr val="44546A"/>
                </a:solidFill>
              </a:rPr>
              <a:t>Real-World Forecasting Simulation:</a:t>
            </a:r>
            <a:endParaRPr b="1">
              <a:solidFill>
                <a:srgbClr val="44546A"/>
              </a:solidFill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rgbClr val="44546A"/>
              </a:buClr>
              <a:buSzPts val="1400"/>
              <a:buChar char="●"/>
            </a:pPr>
            <a:r>
              <a:rPr lang="tr">
                <a:solidFill>
                  <a:srgbClr val="44546A"/>
                </a:solidFill>
              </a:rPr>
              <a:t>Generate 61 consecutive one-step-ahead forecasts (Oct 2020 - Oct 2025)</a:t>
            </a:r>
            <a:endParaRPr>
              <a:solidFill>
                <a:srgbClr val="44546A"/>
              </a:solidFill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rgbClr val="44546A"/>
              </a:buClr>
              <a:buSzPts val="1400"/>
              <a:buChar char="●"/>
            </a:pPr>
            <a:r>
              <a:rPr lang="tr">
                <a:solidFill>
                  <a:srgbClr val="44546A"/>
                </a:solidFill>
              </a:rPr>
              <a:t>Each model is re-estimated monthly as new data becomes available</a:t>
            </a:r>
            <a:endParaRPr>
              <a:solidFill>
                <a:srgbClr val="44546A"/>
              </a:solidFill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rgbClr val="44546A"/>
              </a:buClr>
              <a:buSzPts val="1400"/>
              <a:buChar char="●"/>
            </a:pPr>
            <a:r>
              <a:rPr lang="tr">
                <a:solidFill>
                  <a:srgbClr val="44546A"/>
                </a:solidFill>
              </a:rPr>
              <a:t>Mimics how forecasters operate in practice: update and predict iteratively</a:t>
            </a:r>
            <a:endParaRPr/>
          </a:p>
        </p:txBody>
      </p:sp>
      <p:sp>
        <p:nvSpPr>
          <p:cNvPr id="109" name="Google Shape;109;p18"/>
          <p:cNvSpPr/>
          <p:nvPr/>
        </p:nvSpPr>
        <p:spPr>
          <a:xfrm>
            <a:off x="1176300" y="2073413"/>
            <a:ext cx="6791400" cy="13758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tr">
                <a:solidFill>
                  <a:srgbClr val="44546A"/>
                </a:solidFill>
              </a:rPr>
              <a:t>How the Rolling Window Works:</a:t>
            </a:r>
            <a:endParaRPr b="1">
              <a:solidFill>
                <a:srgbClr val="44546A"/>
              </a:solidFill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rgbClr val="44546A"/>
              </a:buClr>
              <a:buSzPts val="1400"/>
              <a:buChar char="●"/>
            </a:pPr>
            <a:r>
              <a:rPr lang="tr">
                <a:solidFill>
                  <a:srgbClr val="44546A"/>
                </a:solidFill>
              </a:rPr>
              <a:t>Fit model using all historical data available up to month t</a:t>
            </a:r>
            <a:endParaRPr>
              <a:solidFill>
                <a:srgbClr val="44546A"/>
              </a:solidFill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rgbClr val="44546A"/>
              </a:buClr>
              <a:buSzPts val="1400"/>
              <a:buChar char="●"/>
            </a:pPr>
            <a:r>
              <a:rPr lang="tr">
                <a:solidFill>
                  <a:srgbClr val="44546A"/>
                </a:solidFill>
              </a:rPr>
              <a:t>Generate forecast for the next month (t+1)</a:t>
            </a:r>
            <a:endParaRPr>
              <a:solidFill>
                <a:srgbClr val="44546A"/>
              </a:solidFill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rgbClr val="44546A"/>
              </a:buClr>
              <a:buSzPts val="1400"/>
              <a:buChar char="●"/>
            </a:pPr>
            <a:r>
              <a:rPr lang="tr">
                <a:solidFill>
                  <a:srgbClr val="44546A"/>
                </a:solidFill>
              </a:rPr>
              <a:t>Wait for actual value at t+1 to be observed</a:t>
            </a:r>
            <a:endParaRPr>
              <a:solidFill>
                <a:srgbClr val="44546A"/>
              </a:solidFill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rgbClr val="44546A"/>
              </a:buClr>
              <a:buSzPts val="1400"/>
              <a:buChar char="●"/>
            </a:pPr>
            <a:r>
              <a:rPr lang="tr">
                <a:solidFill>
                  <a:srgbClr val="44546A"/>
                </a:solidFill>
              </a:rPr>
              <a:t>Expand training dataset by adding the new observation</a:t>
            </a:r>
            <a:endParaRPr>
              <a:solidFill>
                <a:srgbClr val="44546A"/>
              </a:solidFill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rgbClr val="44546A"/>
              </a:buClr>
              <a:buSzPts val="1400"/>
              <a:buChar char="●"/>
            </a:pPr>
            <a:r>
              <a:rPr lang="tr">
                <a:solidFill>
                  <a:srgbClr val="44546A"/>
                </a:solidFill>
              </a:rPr>
              <a:t>Re-estimate model parameters and repeat</a:t>
            </a:r>
            <a:endParaRPr/>
          </a:p>
        </p:txBody>
      </p:sp>
      <p:sp>
        <p:nvSpPr>
          <p:cNvPr id="110" name="Google Shape;110;p18"/>
          <p:cNvSpPr/>
          <p:nvPr/>
        </p:nvSpPr>
        <p:spPr>
          <a:xfrm>
            <a:off x="1160100" y="3548575"/>
            <a:ext cx="6823800" cy="12594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tr">
                <a:solidFill>
                  <a:srgbClr val="44546A"/>
                </a:solidFill>
              </a:rPr>
              <a:t>Performance Evaluation Metrics:</a:t>
            </a:r>
            <a:endParaRPr b="1">
              <a:solidFill>
                <a:srgbClr val="44546A"/>
              </a:solidFill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rgbClr val="44546A"/>
              </a:buClr>
              <a:buSzPts val="1400"/>
              <a:buChar char="●"/>
            </a:pPr>
            <a:r>
              <a:rPr lang="tr">
                <a:solidFill>
                  <a:srgbClr val="44546A"/>
                </a:solidFill>
              </a:rPr>
              <a:t>RMSE: Root Mean Squared Error – penalizes large forecast errors heavily</a:t>
            </a:r>
            <a:endParaRPr>
              <a:solidFill>
                <a:srgbClr val="44546A"/>
              </a:solidFill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rgbClr val="44546A"/>
              </a:buClr>
              <a:buSzPts val="1400"/>
              <a:buChar char="●"/>
            </a:pPr>
            <a:r>
              <a:rPr lang="tr">
                <a:solidFill>
                  <a:srgbClr val="44546A"/>
                </a:solidFill>
              </a:rPr>
              <a:t>MAE: Mean Absolute Error – average magnitude of errors in billions</a:t>
            </a:r>
            <a:endParaRPr>
              <a:solidFill>
                <a:srgbClr val="44546A"/>
              </a:solidFill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rgbClr val="44546A"/>
              </a:buClr>
              <a:buSzPts val="1400"/>
              <a:buChar char="●"/>
            </a:pPr>
            <a:r>
              <a:rPr lang="tr">
                <a:solidFill>
                  <a:srgbClr val="44546A"/>
                </a:solidFill>
              </a:rPr>
              <a:t>MAPE: Mean Absolute Percentage Error – scale-free measure for comparison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1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6" name="Google Shape;116;p1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17" name="Google Shape;117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118" name="Google Shape;118;p19"/>
          <p:cNvGraphicFramePr/>
          <p:nvPr/>
        </p:nvGraphicFramePr>
        <p:xfrm>
          <a:off x="1587525" y="10607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{135C7A7E-4492-490B-AB57-27E5EC2BEFA0}</a:tableStyleId>
              </a:tblPr>
              <a:tblGrid>
                <a:gridCol w="1685925"/>
                <a:gridCol w="1228725"/>
                <a:gridCol w="1285875"/>
                <a:gridCol w="923925"/>
                <a:gridCol w="1390650"/>
              </a:tblGrid>
              <a:tr h="392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tr" sz="1200">
                          <a:latin typeface="Times"/>
                          <a:ea typeface="Times"/>
                          <a:cs typeface="Times"/>
                          <a:sym typeface="Times"/>
                        </a:rPr>
                        <a:t>Model</a:t>
                      </a:r>
                      <a:endParaRPr sz="1200"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T="0" marB="0" marR="0" marL="0">
                    <a:lnL cap="flat" cmpd="sng" w="86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6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6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tr" sz="1200">
                          <a:latin typeface="Times"/>
                          <a:ea typeface="Times"/>
                          <a:cs typeface="Times"/>
                          <a:sym typeface="Times"/>
                        </a:rPr>
                        <a:t>RMSE ($ Billion)</a:t>
                      </a:r>
                      <a:endParaRPr sz="1200"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T="0" marB="0" marR="0" marL="0">
                    <a:lnL cap="flat" cmpd="sng" w="86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6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6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tr" sz="1200">
                          <a:latin typeface="Times"/>
                          <a:ea typeface="Times"/>
                          <a:cs typeface="Times"/>
                          <a:sym typeface="Times"/>
                        </a:rPr>
                        <a:t>MAE ($ Billion)</a:t>
                      </a:r>
                      <a:endParaRPr sz="1200"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T="0" marB="0" marR="0" marL="0">
                    <a:lnL cap="flat" cmpd="sng" w="86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6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6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tr" sz="1200">
                          <a:latin typeface="Times"/>
                          <a:ea typeface="Times"/>
                          <a:cs typeface="Times"/>
                          <a:sym typeface="Times"/>
                        </a:rPr>
                        <a:t>MAPE (%)</a:t>
                      </a:r>
                      <a:endParaRPr sz="1200"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T="0" marB="0" marR="0" marL="0">
                    <a:lnL cap="flat" cmpd="sng" w="86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6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6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tr" sz="1200">
                          <a:latin typeface="Times"/>
                          <a:ea typeface="Times"/>
                          <a:cs typeface="Times"/>
                          <a:sym typeface="Times"/>
                        </a:rPr>
                        <a:t>BIC (Training)</a:t>
                      </a:r>
                      <a:endParaRPr sz="1200"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T="0" marB="0" marR="0" marL="0">
                    <a:lnL cap="flat" cmpd="sng" w="86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6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6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667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tr" sz="1200">
                          <a:latin typeface="Times"/>
                          <a:ea typeface="Times"/>
                          <a:cs typeface="Times"/>
                          <a:sym typeface="Times"/>
                        </a:rPr>
                        <a:t> </a:t>
                      </a:r>
                      <a:r>
                        <a:rPr lang="tr" sz="1200">
                          <a:latin typeface="Times"/>
                          <a:ea typeface="Times"/>
                          <a:cs typeface="Times"/>
                          <a:sym typeface="Times"/>
                        </a:rPr>
                        <a:t>ARIMA(0,1,1)</a:t>
                      </a:r>
                      <a:endParaRPr sz="1200"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T="0" marB="0" marR="0" marL="0">
                    <a:lnL cap="flat" cmpd="sng" w="86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6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6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tr" sz="1200">
                          <a:latin typeface="Times"/>
                          <a:ea typeface="Times"/>
                          <a:cs typeface="Times"/>
                          <a:sym typeface="Times"/>
                        </a:rPr>
                        <a:t>13.92</a:t>
                      </a:r>
                      <a:endParaRPr sz="1200"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T="0" marB="0" marR="0" marL="0" anchor="ctr">
                    <a:lnL cap="flat" cmpd="sng" w="86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6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6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tr" sz="1200">
                          <a:latin typeface="Times"/>
                          <a:ea typeface="Times"/>
                          <a:cs typeface="Times"/>
                          <a:sym typeface="Times"/>
                        </a:rPr>
                        <a:t>10.29</a:t>
                      </a:r>
                      <a:endParaRPr sz="1200"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T="0" marB="0" marR="0" marL="0" anchor="ctr">
                    <a:lnL cap="flat" cmpd="sng" w="86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6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6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tr" sz="1200">
                          <a:latin typeface="Times"/>
                          <a:ea typeface="Times"/>
                          <a:cs typeface="Times"/>
                          <a:sym typeface="Times"/>
                        </a:rPr>
                        <a:t>1.12</a:t>
                      </a:r>
                      <a:endParaRPr sz="1200"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T="0" marB="0" marR="0" marL="0" anchor="ctr">
                    <a:lnL cap="flat" cmpd="sng" w="86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6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6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tr" sz="1200">
                          <a:latin typeface="Times"/>
                          <a:ea typeface="Times"/>
                          <a:cs typeface="Times"/>
                          <a:sym typeface="Times"/>
                        </a:rPr>
                        <a:t>2110.32</a:t>
                      </a:r>
                      <a:endParaRPr sz="1200"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T="0" marB="0" marR="0" marL="0" anchor="ctr">
                    <a:lnL cap="flat" cmpd="sng" w="86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6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6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524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tr" sz="1200">
                          <a:latin typeface="Times"/>
                          <a:ea typeface="Times"/>
                          <a:cs typeface="Times"/>
                          <a:sym typeface="Times"/>
                        </a:rPr>
                        <a:t> </a:t>
                      </a:r>
                      <a:r>
                        <a:rPr lang="tr" sz="1200">
                          <a:latin typeface="Times"/>
                          <a:ea typeface="Times"/>
                          <a:cs typeface="Times"/>
                          <a:sym typeface="Times"/>
                        </a:rPr>
                        <a:t>SARIMA(0,1,1)(0,1,1)₁₂</a:t>
                      </a:r>
                      <a:endParaRPr sz="1200"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T="0" marB="0" marR="0" marL="0">
                    <a:lnL cap="flat" cmpd="sng" w="86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6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6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tr" sz="1200">
                          <a:latin typeface="Times"/>
                          <a:ea typeface="Times"/>
                          <a:cs typeface="Times"/>
                          <a:sym typeface="Times"/>
                        </a:rPr>
                        <a:t>9.39</a:t>
                      </a:r>
                      <a:endParaRPr sz="1200"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T="0" marB="0" marR="0" marL="0" anchor="ctr">
                    <a:lnL cap="flat" cmpd="sng" w="86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6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6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tr" sz="1200">
                          <a:latin typeface="Times"/>
                          <a:ea typeface="Times"/>
                          <a:cs typeface="Times"/>
                          <a:sym typeface="Times"/>
                        </a:rPr>
                        <a:t>6.73</a:t>
                      </a:r>
                      <a:endParaRPr sz="1200"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T="0" marB="0" marR="0" marL="0" anchor="ctr">
                    <a:lnL cap="flat" cmpd="sng" w="86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6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6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tr" sz="1200">
                          <a:latin typeface="Times"/>
                          <a:ea typeface="Times"/>
                          <a:cs typeface="Times"/>
                          <a:sym typeface="Times"/>
                        </a:rPr>
                        <a:t>0.74</a:t>
                      </a:r>
                      <a:endParaRPr sz="1200"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T="0" marB="0" marR="0" marL="0" anchor="ctr">
                    <a:lnL cap="flat" cmpd="sng" w="86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6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6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tr" sz="1200">
                          <a:latin typeface="Times"/>
                          <a:ea typeface="Times"/>
                          <a:cs typeface="Times"/>
                          <a:sym typeface="Times"/>
                        </a:rPr>
                        <a:t>1904.42</a:t>
                      </a:r>
                      <a:endParaRPr sz="1200"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T="0" marB="0" marR="0" marL="0" anchor="ctr">
                    <a:lnL cap="flat" cmpd="sng" w="86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6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6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857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tr" sz="1200">
                          <a:latin typeface="Times"/>
                          <a:ea typeface="Times"/>
                          <a:cs typeface="Times"/>
                          <a:sym typeface="Times"/>
                        </a:rPr>
                        <a:t> </a:t>
                      </a:r>
                      <a:r>
                        <a:rPr lang="tr" sz="1200">
                          <a:latin typeface="Times"/>
                          <a:ea typeface="Times"/>
                          <a:cs typeface="Times"/>
                          <a:sym typeface="Times"/>
                        </a:rPr>
                        <a:t>SARIMAX(0,1,1)(0,1,1)₁₂</a:t>
                      </a:r>
                      <a:endParaRPr sz="1200"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T="0" marB="0" marR="0" marL="0">
                    <a:lnL cap="flat" cmpd="sng" w="86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6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6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tr" sz="1200">
                          <a:latin typeface="Times"/>
                          <a:ea typeface="Times"/>
                          <a:cs typeface="Times"/>
                          <a:sym typeface="Times"/>
                        </a:rPr>
                        <a:t>9.40</a:t>
                      </a:r>
                      <a:endParaRPr sz="1200"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T="0" marB="0" marR="0" marL="0" anchor="ctr">
                    <a:lnL cap="flat" cmpd="sng" w="86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6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6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tr" sz="1200">
                          <a:latin typeface="Times"/>
                          <a:ea typeface="Times"/>
                          <a:cs typeface="Times"/>
                          <a:sym typeface="Times"/>
                        </a:rPr>
                        <a:t>6.75</a:t>
                      </a:r>
                      <a:endParaRPr sz="1200"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T="0" marB="0" marR="0" marL="0" anchor="ctr">
                    <a:lnL cap="flat" cmpd="sng" w="86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6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6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tr" sz="1200">
                          <a:latin typeface="Times"/>
                          <a:ea typeface="Times"/>
                          <a:cs typeface="Times"/>
                          <a:sym typeface="Times"/>
                        </a:rPr>
                        <a:t>0.74</a:t>
                      </a:r>
                      <a:endParaRPr sz="1200"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T="0" marB="0" marR="0" marL="0" anchor="ctr">
                    <a:lnL cap="flat" cmpd="sng" w="86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6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6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tr" sz="1200">
                          <a:latin typeface="Times"/>
                          <a:ea typeface="Times"/>
                          <a:cs typeface="Times"/>
                          <a:sym typeface="Times"/>
                        </a:rPr>
                        <a:t>1908.63</a:t>
                      </a:r>
                      <a:endParaRPr sz="1200"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T="0" marB="0" marR="0" marL="0" anchor="ctr">
                    <a:lnL cap="flat" cmpd="sng" w="86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6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6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19" name="Google Shape;119;p19"/>
          <p:cNvSpPr txBox="1"/>
          <p:nvPr/>
        </p:nvSpPr>
        <p:spPr>
          <a:xfrm>
            <a:off x="2887725" y="397925"/>
            <a:ext cx="4638600" cy="66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tr" sz="1800">
                <a:solidFill>
                  <a:srgbClr val="44546A"/>
                </a:solidFill>
              </a:rPr>
              <a:t>PERFORMANCE COMPARISON</a:t>
            </a:r>
            <a:endParaRPr sz="1800">
              <a:solidFill>
                <a:srgbClr val="44546A"/>
              </a:solidFill>
            </a:endParaRPr>
          </a:p>
        </p:txBody>
      </p:sp>
      <p:sp>
        <p:nvSpPr>
          <p:cNvPr id="120" name="Google Shape;120;p19"/>
          <p:cNvSpPr txBox="1"/>
          <p:nvPr/>
        </p:nvSpPr>
        <p:spPr>
          <a:xfrm>
            <a:off x="619200" y="2652875"/>
            <a:ext cx="3952800" cy="2114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tr" sz="1200">
                <a:solidFill>
                  <a:srgbClr val="44546A"/>
                </a:solidFill>
              </a:rPr>
              <a:t>Key Findings:</a:t>
            </a:r>
            <a:endParaRPr b="1" sz="1200">
              <a:solidFill>
                <a:srgbClr val="44546A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200">
              <a:solidFill>
                <a:srgbClr val="44546A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tr" sz="1300">
                <a:solidFill>
                  <a:srgbClr val="44546A"/>
                </a:solidFill>
              </a:rPr>
              <a:t>✓</a:t>
            </a:r>
            <a:r>
              <a:rPr lang="tr" sz="1200">
                <a:solidFill>
                  <a:srgbClr val="44546A"/>
                </a:solidFill>
              </a:rPr>
              <a:t> SARIMA improves 32.5% over ARIMA across all metrics</a:t>
            </a:r>
            <a:endParaRPr sz="1200">
              <a:solidFill>
                <a:srgbClr val="44546A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tr" sz="1300">
                <a:solidFill>
                  <a:srgbClr val="44546A"/>
                </a:solidFill>
              </a:rPr>
              <a:t>x </a:t>
            </a:r>
            <a:r>
              <a:rPr lang="tr" sz="1200">
                <a:solidFill>
                  <a:srgbClr val="44546A"/>
                </a:solidFill>
              </a:rPr>
              <a:t>SARIMAX adds no value over SARIMA (virtually identical)</a:t>
            </a:r>
            <a:endParaRPr sz="1200">
              <a:solidFill>
                <a:srgbClr val="44546A"/>
              </a:solidFill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rgbClr val="44546A"/>
              </a:buClr>
              <a:buSzPts val="1200"/>
              <a:buChar char="●"/>
            </a:pPr>
            <a:r>
              <a:rPr lang="tr" sz="1200">
                <a:solidFill>
                  <a:srgbClr val="44546A"/>
                </a:solidFill>
              </a:rPr>
              <a:t>SARIMA MAE = $6.73B (approximately 0.7% of average credit)</a:t>
            </a:r>
            <a:endParaRPr sz="1200">
              <a:solidFill>
                <a:srgbClr val="44546A"/>
              </a:solidFill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rgbClr val="44546A"/>
              </a:buClr>
              <a:buSzPts val="1200"/>
              <a:buChar char="●"/>
            </a:pPr>
            <a:r>
              <a:rPr lang="tr" sz="1200">
                <a:solidFill>
                  <a:srgbClr val="44546A"/>
                </a:solidFill>
              </a:rPr>
              <a:t>206-point BIC improvement strongly justifies seasonal structure</a:t>
            </a:r>
            <a:endParaRPr sz="9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9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9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chemeClr val="dk2"/>
              </a:solidFill>
            </a:endParaRPr>
          </a:p>
        </p:txBody>
      </p:sp>
      <p:sp>
        <p:nvSpPr>
          <p:cNvPr id="121" name="Google Shape;121;p19"/>
          <p:cNvSpPr txBox="1"/>
          <p:nvPr/>
        </p:nvSpPr>
        <p:spPr>
          <a:xfrm>
            <a:off x="4590000" y="3110975"/>
            <a:ext cx="4554000" cy="1198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tr" sz="1200">
                <a:solidFill>
                  <a:srgbClr val="44546A"/>
                </a:solidFill>
              </a:rPr>
              <a:t>Why SARIMA Is Better:</a:t>
            </a:r>
            <a:endParaRPr b="1" sz="1200">
              <a:solidFill>
                <a:srgbClr val="44546A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200">
              <a:solidFill>
                <a:srgbClr val="44546A"/>
              </a:solidFill>
            </a:endParaRPr>
          </a:p>
          <a:p>
            <a:pPr indent="-3048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4546A"/>
              </a:buClr>
              <a:buSzPts val="1200"/>
              <a:buChar char="●"/>
            </a:pPr>
            <a:r>
              <a:rPr lang="tr" sz="1200">
                <a:solidFill>
                  <a:srgbClr val="44546A"/>
                </a:solidFill>
              </a:rPr>
              <a:t>Explicitly captures December peaks and March lows</a:t>
            </a:r>
            <a:endParaRPr sz="1200">
              <a:solidFill>
                <a:srgbClr val="44546A"/>
              </a:solidFill>
            </a:endParaRPr>
          </a:p>
          <a:p>
            <a:pPr indent="-3048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4546A"/>
              </a:buClr>
              <a:buSzPts val="1200"/>
              <a:buChar char="●"/>
            </a:pPr>
            <a:r>
              <a:rPr lang="tr" sz="1200">
                <a:solidFill>
                  <a:srgbClr val="44546A"/>
                </a:solidFill>
              </a:rPr>
              <a:t>Adapts faster to growth rate changes</a:t>
            </a:r>
            <a:endParaRPr sz="1200">
              <a:solidFill>
                <a:srgbClr val="44546A"/>
              </a:solidFill>
            </a:endParaRPr>
          </a:p>
          <a:p>
            <a:pPr indent="-3048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4546A"/>
              </a:buClr>
              <a:buSzPts val="1200"/>
              <a:buChar char="●"/>
            </a:pPr>
            <a:r>
              <a:rPr lang="tr" sz="1200">
                <a:solidFill>
                  <a:srgbClr val="44546A"/>
                </a:solidFill>
              </a:rPr>
              <a:t>Seasonal differencing handles year-over-year patterns</a:t>
            </a:r>
            <a:endParaRPr sz="1200">
              <a:solidFill>
                <a:srgbClr val="44546A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44546A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2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2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" name="Google Shape;127;p20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28" name="Google Shape;128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29" name="Google Shape;129;p20"/>
          <p:cNvSpPr txBox="1"/>
          <p:nvPr/>
        </p:nvSpPr>
        <p:spPr>
          <a:xfrm>
            <a:off x="1963250" y="318625"/>
            <a:ext cx="5302200" cy="656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tr" sz="1800">
                <a:solidFill>
                  <a:srgbClr val="44546A"/>
                </a:solidFill>
              </a:rPr>
              <a:t>VISUAL EVIDENCE: FORECASTS VS ACTUALS</a:t>
            </a:r>
            <a:endParaRPr sz="1800">
              <a:solidFill>
                <a:srgbClr val="44546A"/>
              </a:solidFill>
            </a:endParaRPr>
          </a:p>
        </p:txBody>
      </p:sp>
      <p:pic>
        <p:nvPicPr>
          <p:cNvPr id="130" name="Google Shape;130;p20"/>
          <p:cNvPicPr preferRelativeResize="0"/>
          <p:nvPr/>
        </p:nvPicPr>
        <p:blipFill rotWithShape="1">
          <a:blip r:embed="rId4">
            <a:alphaModFix/>
          </a:blip>
          <a:srcRect b="49831" l="0" r="0" t="0"/>
          <a:stretch/>
        </p:blipFill>
        <p:spPr>
          <a:xfrm>
            <a:off x="109425" y="1206875"/>
            <a:ext cx="5014775" cy="1245484"/>
          </a:xfrm>
          <a:prstGeom prst="rect">
            <a:avLst/>
          </a:prstGeom>
          <a:noFill/>
          <a:ln>
            <a:noFill/>
          </a:ln>
        </p:spPr>
      </p:pic>
      <p:pic>
        <p:nvPicPr>
          <p:cNvPr id="131" name="Google Shape;131;p20"/>
          <p:cNvPicPr preferRelativeResize="0"/>
          <p:nvPr/>
        </p:nvPicPr>
        <p:blipFill rotWithShape="1">
          <a:blip r:embed="rId4">
            <a:alphaModFix/>
          </a:blip>
          <a:srcRect b="0" l="0" r="0" t="49163"/>
          <a:stretch/>
        </p:blipFill>
        <p:spPr>
          <a:xfrm>
            <a:off x="109425" y="2736677"/>
            <a:ext cx="5014775" cy="1263873"/>
          </a:xfrm>
          <a:prstGeom prst="rect">
            <a:avLst/>
          </a:prstGeom>
          <a:noFill/>
          <a:ln>
            <a:noFill/>
          </a:ln>
        </p:spPr>
      </p:pic>
      <p:sp>
        <p:nvSpPr>
          <p:cNvPr id="132" name="Google Shape;132;p20"/>
          <p:cNvSpPr txBox="1"/>
          <p:nvPr/>
        </p:nvSpPr>
        <p:spPr>
          <a:xfrm>
            <a:off x="5230275" y="974725"/>
            <a:ext cx="3788700" cy="243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tr" sz="1200">
                <a:solidFill>
                  <a:srgbClr val="44546A"/>
                </a:solidFill>
              </a:rPr>
              <a:t>Test Period Analysis (Oct 2020 - Oct 2025):</a:t>
            </a:r>
            <a:r>
              <a:rPr lang="tr" sz="1200">
                <a:solidFill>
                  <a:srgbClr val="44546A"/>
                </a:solidFill>
              </a:rPr>
              <a:t> </a:t>
            </a:r>
            <a:endParaRPr sz="1200">
              <a:solidFill>
                <a:srgbClr val="44546A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tr" sz="1200">
                <a:solidFill>
                  <a:srgbClr val="44546A"/>
                </a:solidFill>
              </a:rPr>
              <a:t>Phase 1: Initial Recovery (Oct 2020 - Mar 2021)</a:t>
            </a:r>
            <a:endParaRPr b="1" sz="1200">
              <a:solidFill>
                <a:srgbClr val="44546A"/>
              </a:solidFill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rgbClr val="44546A"/>
              </a:buClr>
              <a:buSzPts val="1200"/>
              <a:buChar char="●"/>
            </a:pPr>
            <a:r>
              <a:rPr lang="tr" sz="1200">
                <a:solidFill>
                  <a:srgbClr val="44546A"/>
                </a:solidFill>
              </a:rPr>
              <a:t>All models underpredict as recovery accelerates faster than expected</a:t>
            </a:r>
            <a:endParaRPr sz="1200">
              <a:solidFill>
                <a:srgbClr val="44546A"/>
              </a:solidFill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rgbClr val="44546A"/>
              </a:buClr>
              <a:buSzPts val="1200"/>
              <a:buChar char="●"/>
            </a:pPr>
            <a:r>
              <a:rPr lang="tr" sz="1200">
                <a:solidFill>
                  <a:srgbClr val="44546A"/>
                </a:solidFill>
              </a:rPr>
              <a:t>SARIMA/SARIMAX adapt more quickly than ARIMA</a:t>
            </a:r>
            <a:endParaRPr sz="1200">
              <a:solidFill>
                <a:srgbClr val="44546A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tr" sz="1200">
                <a:solidFill>
                  <a:srgbClr val="44546A"/>
                </a:solidFill>
              </a:rPr>
              <a:t>Phase 2: Rapid Surge (Apr 2021 - Dec 2022)</a:t>
            </a:r>
            <a:endParaRPr b="1" sz="1200">
              <a:solidFill>
                <a:srgbClr val="44546A"/>
              </a:solidFill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rgbClr val="44546A"/>
              </a:buClr>
              <a:buSzPts val="1200"/>
              <a:buChar char="●"/>
            </a:pPr>
            <a:r>
              <a:rPr lang="tr" sz="1200">
                <a:solidFill>
                  <a:srgbClr val="44546A"/>
                </a:solidFill>
              </a:rPr>
              <a:t>Credit grows 34% in 21 months—unprecedented pace</a:t>
            </a:r>
            <a:endParaRPr sz="1200">
              <a:solidFill>
                <a:srgbClr val="44546A"/>
              </a:solidFill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rgbClr val="44546A"/>
              </a:buClr>
              <a:buSzPts val="1200"/>
              <a:buChar char="●"/>
            </a:pPr>
            <a:r>
              <a:rPr lang="tr" sz="1200">
                <a:solidFill>
                  <a:srgbClr val="44546A"/>
                </a:solidFill>
              </a:rPr>
              <a:t>ARIMA systematically lags behind actuals throughout</a:t>
            </a:r>
            <a:endParaRPr sz="1200">
              <a:solidFill>
                <a:srgbClr val="44546A"/>
              </a:solidFill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rgbClr val="44546A"/>
              </a:buClr>
              <a:buSzPts val="1200"/>
              <a:buChar char="●"/>
            </a:pPr>
            <a:r>
              <a:rPr lang="tr" sz="1200">
                <a:solidFill>
                  <a:srgbClr val="44546A"/>
                </a:solidFill>
              </a:rPr>
              <a:t>SARIMA/SARIMAX track much closer but still miss peak growth</a:t>
            </a:r>
            <a:endParaRPr sz="1200">
              <a:solidFill>
                <a:srgbClr val="44546A"/>
              </a:solidFill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rgbClr val="44546A"/>
              </a:buClr>
              <a:buSzPts val="1200"/>
              <a:buChar char="●"/>
            </a:pPr>
            <a:r>
              <a:rPr lang="tr" sz="1200">
                <a:solidFill>
                  <a:srgbClr val="44546A"/>
                </a:solidFill>
              </a:rPr>
              <a:t>This period generates most forecast errors</a:t>
            </a:r>
            <a:endParaRPr sz="1200">
              <a:solidFill>
                <a:srgbClr val="44546A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tr" sz="1200">
                <a:solidFill>
                  <a:srgbClr val="44546A"/>
                </a:solidFill>
              </a:rPr>
              <a:t>Phase 3: Stabilization (Jan 2023 - Oct 2025)</a:t>
            </a:r>
            <a:endParaRPr b="1" sz="1200">
              <a:solidFill>
                <a:srgbClr val="44546A"/>
              </a:solidFill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rgbClr val="44546A"/>
              </a:buClr>
              <a:buSzPts val="1200"/>
              <a:buChar char="●"/>
            </a:pPr>
            <a:r>
              <a:rPr lang="tr" sz="1200">
                <a:solidFill>
                  <a:srgbClr val="44546A"/>
                </a:solidFill>
              </a:rPr>
              <a:t>Growth moderates; all models improve substantially</a:t>
            </a:r>
            <a:endParaRPr sz="1200">
              <a:solidFill>
                <a:srgbClr val="44546A"/>
              </a:solidFill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rgbClr val="44546A"/>
              </a:buClr>
              <a:buSzPts val="1200"/>
              <a:buChar char="●"/>
            </a:pPr>
            <a:r>
              <a:rPr lang="tr" sz="1200">
                <a:solidFill>
                  <a:srgbClr val="44546A"/>
                </a:solidFill>
              </a:rPr>
              <a:t>SARIMA/SARIMAX forecasts nearly indistinguishable from actuals</a:t>
            </a:r>
            <a:endParaRPr sz="1200">
              <a:solidFill>
                <a:srgbClr val="44546A"/>
              </a:solidFill>
            </a:endParaRPr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i="1" sz="1200">
              <a:solidFill>
                <a:srgbClr val="44546A"/>
              </a:solidFill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2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8" name="Google Shape;138;p2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39" name="Google Shape;139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0" name="Google Shape;140;p2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66700" y="1189038"/>
            <a:ext cx="4467225" cy="3343275"/>
          </a:xfrm>
          <a:prstGeom prst="rect">
            <a:avLst/>
          </a:prstGeom>
          <a:noFill/>
          <a:ln>
            <a:noFill/>
          </a:ln>
        </p:spPr>
      </p:pic>
      <p:sp>
        <p:nvSpPr>
          <p:cNvPr id="141" name="Google Shape;141;p21"/>
          <p:cNvSpPr txBox="1"/>
          <p:nvPr/>
        </p:nvSpPr>
        <p:spPr>
          <a:xfrm>
            <a:off x="2423125" y="445025"/>
            <a:ext cx="56388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tr" sz="1800">
                <a:solidFill>
                  <a:srgbClr val="44546A"/>
                </a:solidFill>
              </a:rPr>
              <a:t>WHY SARIMAX DOESN’T IMPROVE SARIMA?</a:t>
            </a:r>
            <a:endParaRPr sz="1800">
              <a:solidFill>
                <a:srgbClr val="44546A"/>
              </a:solidFill>
            </a:endParaRPr>
          </a:p>
        </p:txBody>
      </p:sp>
      <p:sp>
        <p:nvSpPr>
          <p:cNvPr id="142" name="Google Shape;142;p21"/>
          <p:cNvSpPr txBox="1"/>
          <p:nvPr/>
        </p:nvSpPr>
        <p:spPr>
          <a:xfrm>
            <a:off x="4733925" y="1189075"/>
            <a:ext cx="4180500" cy="334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tr" sz="1200">
                <a:solidFill>
                  <a:srgbClr val="44546A"/>
                </a:solidFill>
              </a:rPr>
              <a:t>Evidence:</a:t>
            </a:r>
            <a:endParaRPr b="1" sz="1200">
              <a:solidFill>
                <a:srgbClr val="44546A"/>
              </a:solidFill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rgbClr val="44546A"/>
              </a:buClr>
              <a:buSzPts val="1200"/>
              <a:buChar char="●"/>
            </a:pPr>
            <a:r>
              <a:rPr lang="tr" sz="1200">
                <a:solidFill>
                  <a:srgbClr val="44546A"/>
                </a:solidFill>
              </a:rPr>
              <a:t>Fed Funds Rate: Correlation ≈ 0, p = 0.988 (statistically insignificant)</a:t>
            </a:r>
            <a:endParaRPr sz="1200">
              <a:solidFill>
                <a:srgbClr val="44546A"/>
              </a:solidFill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rgbClr val="44546A"/>
              </a:buClr>
              <a:buSzPts val="1200"/>
              <a:buChar char="●"/>
            </a:pPr>
            <a:r>
              <a:rPr lang="tr" sz="1200">
                <a:solidFill>
                  <a:srgbClr val="44546A"/>
                </a:solidFill>
              </a:rPr>
              <a:t>Unemployment Rate: Correlation = -0.24, p = 0.007 (significant but adds no forecasting value)</a:t>
            </a:r>
            <a:endParaRPr sz="1200">
              <a:solidFill>
                <a:srgbClr val="44546A"/>
              </a:solidFill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rgbClr val="44546A"/>
              </a:buClr>
              <a:buSzPts val="1200"/>
              <a:buChar char="●"/>
            </a:pPr>
            <a:r>
              <a:rPr lang="tr" sz="1200">
                <a:solidFill>
                  <a:srgbClr val="44546A"/>
                </a:solidFill>
              </a:rPr>
              <a:t>BIC penalty: 4.21 points worse than SARIMA</a:t>
            </a:r>
            <a:endParaRPr sz="1200">
              <a:solidFill>
                <a:srgbClr val="44546A"/>
              </a:solidFill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rgbClr val="44546A"/>
              </a:buClr>
              <a:buSzPts val="1200"/>
              <a:buChar char="●"/>
            </a:pPr>
            <a:r>
              <a:rPr lang="tr" sz="1200">
                <a:solidFill>
                  <a:srgbClr val="44546A"/>
                </a:solidFill>
              </a:rPr>
              <a:t>Forecast accuracy: Identical to SARIMA (RMSE 9.40 vs 9.39)</a:t>
            </a:r>
            <a:endParaRPr sz="1200">
              <a:solidFill>
                <a:srgbClr val="44546A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tr" sz="1200">
                <a:solidFill>
                  <a:srgbClr val="44546A"/>
                </a:solidFill>
              </a:rPr>
              <a:t>Explanation:</a:t>
            </a:r>
            <a:endParaRPr b="1" sz="1200">
              <a:solidFill>
                <a:srgbClr val="44546A"/>
              </a:solidFill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rgbClr val="44546A"/>
              </a:buClr>
              <a:buSzPts val="1200"/>
              <a:buChar char="●"/>
            </a:pPr>
            <a:r>
              <a:rPr lang="tr" sz="1200">
                <a:solidFill>
                  <a:srgbClr val="44546A"/>
                </a:solidFill>
              </a:rPr>
              <a:t>Information redundancy: Seasonal patterns already reflect economic conditions</a:t>
            </a:r>
            <a:endParaRPr sz="1200">
              <a:solidFill>
                <a:srgbClr val="44546A"/>
              </a:solidFill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rgbClr val="44546A"/>
              </a:buClr>
              <a:buSzPts val="1200"/>
              <a:buChar char="●"/>
            </a:pPr>
            <a:r>
              <a:rPr lang="tr" sz="1200">
                <a:solidFill>
                  <a:srgbClr val="44546A"/>
                </a:solidFill>
              </a:rPr>
              <a:t>Short forecast horizon: Recent credit values dominate one-step-ahead forecasts</a:t>
            </a:r>
            <a:endParaRPr sz="1200">
              <a:solidFill>
                <a:srgbClr val="44546A"/>
              </a:solidFill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rgbClr val="44546A"/>
              </a:buClr>
              <a:buSzPts val="1200"/>
              <a:buChar char="●"/>
            </a:pPr>
            <a:r>
              <a:rPr lang="tr" sz="1200">
                <a:solidFill>
                  <a:srgbClr val="44546A"/>
                </a:solidFill>
              </a:rPr>
              <a:t>Slow-moving variables: Unemployment changes gradually; effects already captured in lagged credit</a:t>
            </a:r>
            <a:endParaRPr sz="1200">
              <a:solidFill>
                <a:srgbClr val="44546A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tr" sz="1200">
                <a:solidFill>
                  <a:srgbClr val="44546A"/>
                </a:solidFill>
              </a:rPr>
              <a:t>Implicit information:</a:t>
            </a:r>
            <a:r>
              <a:rPr lang="tr" sz="1200">
                <a:solidFill>
                  <a:srgbClr val="44546A"/>
                </a:solidFill>
              </a:rPr>
              <a:t> Rapid credit growth signals strong economy without needing explicit variables</a:t>
            </a:r>
            <a:endParaRPr sz="1200">
              <a:solidFill>
                <a:srgbClr val="44546A"/>
              </a:solidFill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2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8" name="Google Shape;148;p22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49" name="Google Shape;149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50" name="Google Shape;150;p22"/>
          <p:cNvSpPr txBox="1"/>
          <p:nvPr/>
        </p:nvSpPr>
        <p:spPr>
          <a:xfrm>
            <a:off x="734250" y="635450"/>
            <a:ext cx="8097900" cy="2016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tr" sz="1300">
                <a:solidFill>
                  <a:srgbClr val="44546A"/>
                </a:solidFill>
              </a:rPr>
              <a:t>⚠</a:t>
            </a:r>
            <a:r>
              <a:rPr b="1" lang="tr">
                <a:solidFill>
                  <a:srgbClr val="44546A"/>
                </a:solidFill>
              </a:rPr>
              <a:t> Limitations:</a:t>
            </a:r>
            <a:endParaRPr b="1">
              <a:solidFill>
                <a:srgbClr val="44546A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rgbClr val="44546A"/>
              </a:solidFill>
            </a:endParaRPr>
          </a:p>
          <a:p>
            <a:pPr indent="-273050" lvl="0" marL="457200" rtl="0" algn="l">
              <a:spcBef>
                <a:spcPts val="0"/>
              </a:spcBef>
              <a:spcAft>
                <a:spcPts val="0"/>
              </a:spcAft>
              <a:buClr>
                <a:srgbClr val="44546A"/>
              </a:buClr>
              <a:buSzPts val="700"/>
              <a:buChar char="●"/>
            </a:pPr>
            <a:r>
              <a:rPr b="1" lang="tr" sz="1300">
                <a:solidFill>
                  <a:srgbClr val="44546A"/>
                </a:solidFill>
              </a:rPr>
              <a:t>Structural breaks:</a:t>
            </a:r>
            <a:r>
              <a:rPr lang="tr" sz="1300">
                <a:solidFill>
                  <a:srgbClr val="44546A"/>
                </a:solidFill>
              </a:rPr>
              <a:t> Max errors $46.22B during 2021-2022 surge—linear models can't anticipate regime shifts</a:t>
            </a:r>
            <a:endParaRPr sz="1300">
              <a:solidFill>
                <a:srgbClr val="44546A"/>
              </a:solidFill>
            </a:endParaRPr>
          </a:p>
          <a:p>
            <a:pPr indent="-273050" lvl="0" marL="457200" rtl="0" algn="l">
              <a:spcBef>
                <a:spcPts val="0"/>
              </a:spcBef>
              <a:spcAft>
                <a:spcPts val="0"/>
              </a:spcAft>
              <a:buClr>
                <a:srgbClr val="44546A"/>
              </a:buClr>
              <a:buSzPts val="700"/>
              <a:buChar char="●"/>
            </a:pPr>
            <a:r>
              <a:rPr b="1" lang="tr" sz="1300">
                <a:solidFill>
                  <a:srgbClr val="44546A"/>
                </a:solidFill>
              </a:rPr>
              <a:t>Point forecasts only: </a:t>
            </a:r>
            <a:r>
              <a:rPr lang="tr" sz="1300">
                <a:solidFill>
                  <a:srgbClr val="44546A"/>
                </a:solidFill>
              </a:rPr>
              <a:t>No confidence intervals; uncertainty likely underestimated </a:t>
            </a:r>
            <a:endParaRPr sz="1300">
              <a:solidFill>
                <a:srgbClr val="44546A"/>
              </a:solidFill>
            </a:endParaRPr>
          </a:p>
          <a:p>
            <a:pPr indent="-273050" lvl="0" marL="457200" rtl="0" algn="l">
              <a:spcBef>
                <a:spcPts val="0"/>
              </a:spcBef>
              <a:spcAft>
                <a:spcPts val="0"/>
              </a:spcAft>
              <a:buClr>
                <a:srgbClr val="44546A"/>
              </a:buClr>
              <a:buSzPts val="700"/>
              <a:buChar char="●"/>
            </a:pPr>
            <a:r>
              <a:rPr b="1" lang="tr" sz="1300">
                <a:solidFill>
                  <a:srgbClr val="44546A"/>
                </a:solidFill>
              </a:rPr>
              <a:t>Short horizon: </a:t>
            </a:r>
            <a:r>
              <a:rPr lang="tr" sz="1300">
                <a:solidFill>
                  <a:srgbClr val="44546A"/>
                </a:solidFill>
              </a:rPr>
              <a:t>1-month forecasts only—performance may degrade at 6-12 months </a:t>
            </a:r>
            <a:endParaRPr sz="1300">
              <a:solidFill>
                <a:srgbClr val="44546A"/>
              </a:solidFill>
            </a:endParaRPr>
          </a:p>
          <a:p>
            <a:pPr indent="-273050" lvl="0" marL="457200" rtl="0" algn="l">
              <a:spcBef>
                <a:spcPts val="0"/>
              </a:spcBef>
              <a:spcAft>
                <a:spcPts val="0"/>
              </a:spcAft>
              <a:buClr>
                <a:srgbClr val="44546A"/>
              </a:buClr>
              <a:buSzPts val="700"/>
              <a:buChar char="●"/>
            </a:pPr>
            <a:r>
              <a:rPr b="1" lang="tr" sz="1300">
                <a:solidFill>
                  <a:srgbClr val="44546A"/>
                </a:solidFill>
              </a:rPr>
              <a:t>Sample period: </a:t>
            </a:r>
            <a:r>
              <a:rPr lang="tr" sz="1300">
                <a:solidFill>
                  <a:srgbClr val="44546A"/>
                </a:solidFill>
              </a:rPr>
              <a:t>COVID-19 recovery only—untested in normal conditions </a:t>
            </a:r>
            <a:endParaRPr sz="1300">
              <a:solidFill>
                <a:srgbClr val="44546A"/>
              </a:solidFill>
            </a:endParaRPr>
          </a:p>
          <a:p>
            <a:pPr indent="-273050" lvl="0" marL="457200" rtl="0" algn="l">
              <a:spcBef>
                <a:spcPts val="0"/>
              </a:spcBef>
              <a:spcAft>
                <a:spcPts val="0"/>
              </a:spcAft>
              <a:buClr>
                <a:srgbClr val="44546A"/>
              </a:buClr>
              <a:buSzPts val="700"/>
              <a:buChar char="●"/>
            </a:pPr>
            <a:r>
              <a:rPr b="1" lang="tr" sz="1300">
                <a:solidFill>
                  <a:srgbClr val="44546A"/>
                </a:solidFill>
              </a:rPr>
              <a:t>Linear specification:</a:t>
            </a:r>
            <a:r>
              <a:rPr lang="tr" sz="1300">
                <a:solidFill>
                  <a:srgbClr val="44546A"/>
                </a:solidFill>
              </a:rPr>
              <a:t> Cannot capture threshold effects or asymmetric shocks</a:t>
            </a:r>
            <a:endParaRPr sz="1300">
              <a:solidFill>
                <a:srgbClr val="44546A"/>
              </a:solidFill>
            </a:endParaRPr>
          </a:p>
        </p:txBody>
      </p:sp>
      <p:sp>
        <p:nvSpPr>
          <p:cNvPr id="151" name="Google Shape;151;p22"/>
          <p:cNvSpPr/>
          <p:nvPr/>
        </p:nvSpPr>
        <p:spPr>
          <a:xfrm>
            <a:off x="734250" y="2571750"/>
            <a:ext cx="8001000" cy="21219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2" name="Google Shape;152;p22"/>
          <p:cNvSpPr txBox="1"/>
          <p:nvPr/>
        </p:nvSpPr>
        <p:spPr>
          <a:xfrm>
            <a:off x="861300" y="2741900"/>
            <a:ext cx="7746900" cy="187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tr" sz="1600">
                <a:solidFill>
                  <a:srgbClr val="44546A"/>
                </a:solidFill>
              </a:rPr>
              <a:t>Main Findings:</a:t>
            </a:r>
            <a:endParaRPr b="1" i="1" sz="1600">
              <a:solidFill>
                <a:srgbClr val="44546A"/>
              </a:solidFill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rgbClr val="44546A"/>
              </a:buClr>
              <a:buSzPts val="1600"/>
              <a:buChar char="●"/>
            </a:pPr>
            <a:r>
              <a:rPr i="1" lang="tr" sz="1600">
                <a:solidFill>
                  <a:srgbClr val="44546A"/>
                </a:solidFill>
              </a:rPr>
              <a:t>Seasonality is crucial: 32.5% accuracy improvement over ARIMA</a:t>
            </a:r>
            <a:endParaRPr i="1" sz="1600">
              <a:solidFill>
                <a:srgbClr val="44546A"/>
              </a:solidFill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rgbClr val="44546A"/>
              </a:buClr>
              <a:buSzPts val="1600"/>
              <a:buChar char="●"/>
            </a:pPr>
            <a:r>
              <a:rPr i="1" lang="tr" sz="1600">
                <a:solidFill>
                  <a:srgbClr val="44546A"/>
                </a:solidFill>
              </a:rPr>
              <a:t>Macro variables add no value: SARIMAX identical to SARIMA for 1-step forecasts</a:t>
            </a:r>
            <a:endParaRPr i="1" sz="1600">
              <a:solidFill>
                <a:srgbClr val="44546A"/>
              </a:solidFill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rgbClr val="44546A"/>
              </a:buClr>
              <a:buSzPts val="1600"/>
              <a:buChar char="●"/>
            </a:pPr>
            <a:r>
              <a:rPr i="1" lang="tr" sz="1600">
                <a:solidFill>
                  <a:srgbClr val="44546A"/>
                </a:solidFill>
              </a:rPr>
              <a:t>SARIMA wins: Best model—accurate, parsimonious, interpretable</a:t>
            </a:r>
            <a:endParaRPr i="1" sz="1600">
              <a:solidFill>
                <a:srgbClr val="44546A"/>
              </a:solidFill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rgbClr val="44546A"/>
              </a:buClr>
              <a:buSzPts val="1600"/>
              <a:buChar char="●"/>
            </a:pPr>
            <a:r>
              <a:rPr i="1" lang="tr" sz="1600">
                <a:solidFill>
                  <a:srgbClr val="44546A"/>
                </a:solidFill>
              </a:rPr>
              <a:t>Strong statistical justification: 206-point BIC improvement on ARIMA</a:t>
            </a:r>
            <a:endParaRPr i="1" sz="1600">
              <a:solidFill>
                <a:srgbClr val="44546A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2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153" name="Google Shape;153;p22"/>
          <p:cNvSpPr txBox="1"/>
          <p:nvPr/>
        </p:nvSpPr>
        <p:spPr>
          <a:xfrm>
            <a:off x="2482950" y="168650"/>
            <a:ext cx="4600500" cy="42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tr" sz="1800">
                <a:solidFill>
                  <a:srgbClr val="44546A"/>
                </a:solidFill>
              </a:rPr>
              <a:t>CONCLUSION</a:t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